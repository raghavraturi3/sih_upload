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7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2" autoAdjust="0"/>
    <p:restoredTop sz="94660"/>
  </p:normalViewPr>
  <p:slideViewPr>
    <p:cSldViewPr snapToGrid="0" snapToObjects="1">
      <p:cViewPr>
        <p:scale>
          <a:sx n="66" d="100"/>
          <a:sy n="66" d="100"/>
        </p:scale>
        <p:origin x="918" y="24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hyperlink" Target="https://www.bing.com/ck/a?!&amp;&amp;p=4c11b5575d75aedaa9d72b6604a1ba87e288f48eddd51682329ae44bcbafe36dJmltdHM9MTc4OTM0NDAwMA&amp;ptn=3&amp;ver=2&amp;hsh=4&amp;fclid=1c020e86-82f1-6eaa-0abd-1adb83f76f21&amp;u=a1L2NvcGlsb3RzZWFyY2g_cT1yZWZlcmVuY2VzJmZvcm09Q1NCUkFORA&amp;ntb=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r="59916"/>
          <a:stretch/>
        </p:blipFill>
        <p:spPr>
          <a:xfrm>
            <a:off x="6897880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5182008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2630" y="2076450"/>
            <a:ext cx="11668187" cy="4409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Problem Statement ID:-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26060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:-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Digital Platform for efficient remote management of Indian Antarctic Research Stations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Theme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:- 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Smart Automation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PS Category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:-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</a:t>
            </a: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ID:-T-031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Name:- BAHRTI MAITRI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69448172-1D3D-709A-91A3-FFAD087DDE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161" y="54132"/>
            <a:ext cx="1135571" cy="1135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80168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4617720" y="248149"/>
            <a:ext cx="2453640" cy="1143000"/>
          </a:xfrm>
        </p:spPr>
        <p:txBody>
          <a:bodyPr/>
          <a:lstStyle/>
          <a:p>
            <a:pPr algn="just"/>
            <a:r>
              <a:rPr lang="en-IN" sz="4000" b="1" dirty="0"/>
              <a:t>IDEA TITLE</a:t>
            </a:r>
            <a:br>
              <a:rPr lang="en-IN" sz="3600" dirty="0"/>
            </a:br>
            <a:endParaRPr lang="en-US" sz="3200" u="sng" dirty="0"/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7441802" y="2536448"/>
            <a:ext cx="7297847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endParaRPr lang="en-IN" sz="2800" dirty="0"/>
          </a:p>
          <a:p>
            <a:endParaRPr lang="en-US" sz="24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13121640" y="2758440"/>
            <a:ext cx="1295400" cy="1783718"/>
          </a:xfrm>
        </p:spPr>
        <p:txBody>
          <a:bodyPr/>
          <a:lstStyle/>
          <a:p>
            <a:pPr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79487" y="168241"/>
            <a:ext cx="152188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BHARTI</a:t>
            </a:r>
          </a:p>
          <a:p>
            <a:pPr algn="ctr"/>
            <a:r>
              <a:rPr lang="en-US" b="1" dirty="0"/>
              <a:t>MAITRI</a:t>
            </a:r>
            <a:endParaRPr lang="en-IN" b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8383" y="10434"/>
            <a:ext cx="2249850" cy="10623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D2392C0-4490-5CB7-1ED7-96A93CABBACE}"/>
              </a:ext>
            </a:extLst>
          </p:cNvPr>
          <p:cNvSpPr txBox="1"/>
          <p:nvPr/>
        </p:nvSpPr>
        <p:spPr>
          <a:xfrm>
            <a:off x="188047" y="1164023"/>
            <a:ext cx="5858961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IDEA / SOLUTION</a:t>
            </a:r>
            <a:r>
              <a:rPr lang="en-US" sz="2400" b="1" u="sng" dirty="0">
                <a:solidFill>
                  <a:schemeClr val="tx2"/>
                </a:solidFill>
              </a:rPr>
              <a:t>:-</a:t>
            </a:r>
            <a:endParaRPr lang="en-US" sz="2400" b="1" u="sng" dirty="0">
              <a:solidFill>
                <a:schemeClr val="tx1"/>
              </a:solidFill>
            </a:endParaRPr>
          </a:p>
          <a:p>
            <a:r>
              <a:rPr lang="en-IN" sz="2000" b="1" dirty="0">
                <a:solidFill>
                  <a:schemeClr val="tx1"/>
                </a:solidFill>
              </a:rPr>
              <a:t>Antarctic Smart Digital Twin &amp; Autonomous Monitoring System</a:t>
            </a:r>
          </a:p>
          <a:p>
            <a:endParaRPr lang="en-US" sz="1800" u="sng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Create a </a:t>
            </a:r>
            <a:r>
              <a:rPr lang="en-US" sz="1800" b="1" dirty="0">
                <a:solidFill>
                  <a:schemeClr val="tx1"/>
                </a:solidFill>
              </a:rPr>
              <a:t>3D Digital Twin of Antarctic research stations</a:t>
            </a:r>
            <a:r>
              <a:rPr lang="en-US" sz="1800" dirty="0">
                <a:solidFill>
                  <a:schemeClr val="tx1"/>
                </a:solidFill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Integrate </a:t>
            </a:r>
            <a:r>
              <a:rPr lang="en-US" sz="1800" b="1" dirty="0">
                <a:solidFill>
                  <a:schemeClr val="tx1"/>
                </a:solidFill>
              </a:rPr>
              <a:t>satellite, IoT, weather and equipment data</a:t>
            </a:r>
            <a:r>
              <a:rPr lang="en-US" sz="1800" dirty="0">
                <a:solidFill>
                  <a:schemeClr val="tx1"/>
                </a:solidFill>
              </a:rPr>
              <a:t> in real time.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Monitor </a:t>
            </a:r>
            <a:r>
              <a:rPr lang="en-US" sz="1800" b="1" dirty="0">
                <a:solidFill>
                  <a:schemeClr val="tx1"/>
                </a:solidFill>
              </a:rPr>
              <a:t>energy, infrastructure, vehicles and environmental conditions</a:t>
            </a:r>
            <a:r>
              <a:rPr lang="en-US" sz="1800" dirty="0">
                <a:solidFill>
                  <a:schemeClr val="tx1"/>
                </a:solidFill>
              </a:rPr>
              <a:t>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43C92F-A57E-BD7E-374C-68BB621AFDA7}"/>
              </a:ext>
            </a:extLst>
          </p:cNvPr>
          <p:cNvSpPr txBox="1"/>
          <p:nvPr/>
        </p:nvSpPr>
        <p:spPr>
          <a:xfrm>
            <a:off x="279487" y="4056379"/>
            <a:ext cx="6181570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u="sng" dirty="0">
                <a:solidFill>
                  <a:schemeClr val="tx2"/>
                </a:solidFill>
              </a:rPr>
              <a:t>Innovation:-</a:t>
            </a:r>
            <a:endParaRPr lang="en-US" sz="2000" b="1" u="sng" dirty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One platform for </a:t>
            </a:r>
            <a:r>
              <a:rPr lang="en-US" sz="1800" b="1" dirty="0">
                <a:solidFill>
                  <a:schemeClr val="tx1"/>
                </a:solidFill>
              </a:rPr>
              <a:t>monitoring + prediction + simulation</a:t>
            </a:r>
            <a:r>
              <a:rPr lang="en-US" sz="1800" dirty="0">
                <a:solidFill>
                  <a:schemeClr val="tx1"/>
                </a:solidFill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Digital Twin allows testing solutions </a:t>
            </a:r>
            <a:r>
              <a:rPr lang="en-US" sz="1800" b="1" dirty="0">
                <a:solidFill>
                  <a:schemeClr val="tx1"/>
                </a:solidFill>
              </a:rPr>
              <a:t>before physical implementation</a:t>
            </a:r>
            <a:r>
              <a:rPr lang="en-US" sz="1800" dirty="0">
                <a:solidFill>
                  <a:schemeClr val="tx1"/>
                </a:solidFill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AI-based prediction reduces human exposure to extreme conditions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7B1157-621E-D206-A892-072FEFD412FD}"/>
              </a:ext>
            </a:extLst>
          </p:cNvPr>
          <p:cNvSpPr txBox="1"/>
          <p:nvPr/>
        </p:nvSpPr>
        <p:spPr>
          <a:xfrm>
            <a:off x="6047008" y="1005366"/>
            <a:ext cx="6060837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            </a:t>
            </a:r>
            <a:r>
              <a:rPr lang="en-IN" sz="1100" dirty="0"/>
              <a:t>                                 </a:t>
            </a:r>
            <a:r>
              <a:rPr lang="en-IN" sz="1100" b="1" dirty="0"/>
              <a:t>Problems</a:t>
            </a:r>
          </a:p>
          <a:p>
            <a:r>
              <a:rPr lang="en-IN" sz="1100" dirty="0"/>
              <a:t>   Extreme Weather → Remote Location → Equipment Failures → Energy Issues → Limited                 Manpower → Difficult Maintenance</a:t>
            </a:r>
          </a:p>
          <a:p>
            <a:r>
              <a:rPr lang="en-IN" sz="1100" dirty="0"/>
              <a:t>                                                ↓</a:t>
            </a:r>
          </a:p>
          <a:p>
            <a:r>
              <a:rPr lang="en-IN" sz="1100" dirty="0"/>
              <a:t>                                      </a:t>
            </a:r>
            <a:r>
              <a:rPr lang="en-IN" sz="1100" b="1" dirty="0"/>
              <a:t>Proposed Solution </a:t>
            </a:r>
          </a:p>
          <a:p>
            <a:r>
              <a:rPr lang="en-IN" sz="1100" dirty="0"/>
              <a:t>           IoT + AI/ML + Satellite Communication + Digital Twin</a:t>
            </a:r>
          </a:p>
          <a:p>
            <a:r>
              <a:rPr lang="en-IN" sz="1100" dirty="0"/>
              <a:t>                                                ↓</a:t>
            </a:r>
          </a:p>
          <a:p>
            <a:r>
              <a:rPr lang="en-IN" sz="1100" dirty="0"/>
              <a:t>                                       </a:t>
            </a:r>
            <a:r>
              <a:rPr lang="en-IN" sz="1100" b="1" dirty="0"/>
              <a:t>Data Collection</a:t>
            </a:r>
          </a:p>
          <a:p>
            <a:r>
              <a:rPr lang="en-IN" sz="1100" dirty="0"/>
              <a:t>       Temperature • Vibration • Energy • Weather • Equipment</a:t>
            </a:r>
          </a:p>
          <a:p>
            <a:r>
              <a:rPr lang="en-IN" sz="1100" dirty="0"/>
              <a:t>                                                ↓</a:t>
            </a:r>
          </a:p>
          <a:p>
            <a:r>
              <a:rPr lang="en-IN" sz="1100" dirty="0"/>
              <a:t>                                     </a:t>
            </a:r>
            <a:r>
              <a:rPr lang="en-IN" sz="1100" b="1" dirty="0"/>
              <a:t>Data Transmission</a:t>
            </a:r>
          </a:p>
          <a:p>
            <a:r>
              <a:rPr lang="en-IN" sz="1100" dirty="0"/>
              <a:t>        IoT Sensors → Edge Gateway → Satellite/Secure Network</a:t>
            </a:r>
          </a:p>
          <a:p>
            <a:r>
              <a:rPr lang="en-IN" sz="1100" dirty="0"/>
              <a:t>                                                ↓</a:t>
            </a:r>
          </a:p>
          <a:p>
            <a:r>
              <a:rPr lang="en-IN" sz="1100" dirty="0"/>
              <a:t>                                     </a:t>
            </a:r>
            <a:r>
              <a:rPr lang="en-IN" sz="1100" b="1" dirty="0"/>
              <a:t>Data Processing</a:t>
            </a:r>
          </a:p>
          <a:p>
            <a:r>
              <a:rPr lang="en-IN" sz="1100" dirty="0"/>
              <a:t>                 Cleaning → Storage → Real-Time Analysis</a:t>
            </a:r>
          </a:p>
          <a:p>
            <a:r>
              <a:rPr lang="en-IN" sz="1100" dirty="0"/>
              <a:t>                                                ↓</a:t>
            </a:r>
          </a:p>
          <a:p>
            <a:r>
              <a:rPr lang="en-IN" sz="1100" b="1" dirty="0"/>
              <a:t>                                           AI/ML</a:t>
            </a:r>
          </a:p>
          <a:p>
            <a:r>
              <a:rPr lang="en-IN" sz="1100" dirty="0"/>
              <a:t>         Anomaly Detection → Failure Prediction → Energy Forecasting</a:t>
            </a:r>
          </a:p>
          <a:p>
            <a:r>
              <a:rPr lang="en-IN" sz="1100" dirty="0"/>
              <a:t>                                                ↓</a:t>
            </a:r>
          </a:p>
          <a:p>
            <a:r>
              <a:rPr lang="en-IN" sz="1100" dirty="0"/>
              <a:t>                                        </a:t>
            </a:r>
            <a:r>
              <a:rPr lang="en-IN" sz="1100" b="1" dirty="0"/>
              <a:t>Digital Twin</a:t>
            </a:r>
          </a:p>
          <a:p>
            <a:r>
              <a:rPr lang="en-IN" sz="1100" dirty="0"/>
              <a:t>         Live 3D Station → Equipment Status → Fault Visualization</a:t>
            </a:r>
          </a:p>
          <a:p>
            <a:r>
              <a:rPr lang="en-IN" sz="1100" dirty="0"/>
              <a:t>                                              ↓</a:t>
            </a:r>
          </a:p>
          <a:p>
            <a:r>
              <a:rPr lang="en-IN" sz="1100" dirty="0"/>
              <a:t>                                </a:t>
            </a:r>
            <a:r>
              <a:rPr lang="en-IN" sz="1100" b="1" dirty="0"/>
              <a:t>Dashboard &amp; Alerts</a:t>
            </a:r>
          </a:p>
          <a:p>
            <a:r>
              <a:rPr lang="en-IN" sz="1100" dirty="0"/>
              <a:t>        Real-Time Monitoring → Automatic Alert → Remote Diagnosis</a:t>
            </a:r>
          </a:p>
          <a:p>
            <a:r>
              <a:rPr lang="en-IN" sz="1100" dirty="0"/>
              <a:t>                                              ↓</a:t>
            </a:r>
          </a:p>
          <a:p>
            <a:r>
              <a:rPr lang="en-IN" sz="1100" dirty="0"/>
              <a:t>                                         </a:t>
            </a:r>
            <a:r>
              <a:rPr lang="en-IN" sz="1100" b="1" dirty="0"/>
              <a:t>Action</a:t>
            </a:r>
          </a:p>
          <a:p>
            <a:r>
              <a:rPr lang="en-IN" sz="1100" dirty="0"/>
              <a:t>           Maintenance → Verification → System Update</a:t>
            </a:r>
          </a:p>
          <a:p>
            <a:r>
              <a:rPr lang="en-IN" sz="1100" dirty="0"/>
              <a:t>                                              ↓</a:t>
            </a:r>
          </a:p>
          <a:p>
            <a:r>
              <a:rPr lang="en-IN" sz="1100" dirty="0"/>
              <a:t>                                     </a:t>
            </a:r>
            <a:r>
              <a:rPr lang="en-IN" sz="1100" b="1" dirty="0"/>
              <a:t>Expected Outcomes</a:t>
            </a:r>
          </a:p>
          <a:p>
            <a:r>
              <a:rPr lang="en-IN" sz="1100" dirty="0"/>
              <a:t> Fewer Breakdowns • Less Human Intervention • Optimized Energy • Safer Operations • Sustainable Antarctica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14592300" y="1447801"/>
            <a:ext cx="3204000" cy="1482728"/>
          </a:xfrm>
        </p:spPr>
        <p:txBody>
          <a:bodyPr/>
          <a:lstStyle/>
          <a:p>
            <a:pPr>
              <a:defRPr/>
            </a:pPr>
            <a:endParaRPr lang="en-US" dirty="0">
              <a:solidFill>
                <a:schemeClr val="bg1"/>
              </a:solidFill>
            </a:endParaRPr>
          </a:p>
          <a:p>
            <a:pPr>
              <a:defRPr/>
            </a:pPr>
            <a:endParaRPr lang="en-US" dirty="0">
              <a:solidFill>
                <a:schemeClr val="bg1"/>
              </a:solidFill>
            </a:endParaRPr>
          </a:p>
          <a:p>
            <a:pPr>
              <a:defRPr/>
            </a:pPr>
            <a:endParaRPr lang="en-US" dirty="0">
              <a:solidFill>
                <a:schemeClr val="bg1"/>
              </a:solidFill>
            </a:endParaRPr>
          </a:p>
          <a:p>
            <a:pPr>
              <a:defRPr/>
            </a:pPr>
            <a:endParaRPr lang="en-US" dirty="0">
              <a:solidFill>
                <a:schemeClr val="bg1"/>
              </a:solidFill>
            </a:endParaRPr>
          </a:p>
          <a:p>
            <a:pPr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7997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BHARTI</a:t>
            </a:r>
          </a:p>
          <a:p>
            <a:pPr algn="ctr"/>
            <a:r>
              <a:rPr lang="en-US" b="1" dirty="0"/>
              <a:t>MAITRI</a:t>
            </a:r>
            <a:endParaRPr lang="en-IN" b="1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-47625"/>
            <a:ext cx="2249850" cy="1062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8BA064-E551-7BBC-4BDA-AABB7A848232}"/>
              </a:ext>
            </a:extLst>
          </p:cNvPr>
          <p:cNvSpPr txBox="1"/>
          <p:nvPr/>
        </p:nvSpPr>
        <p:spPr>
          <a:xfrm>
            <a:off x="745026" y="983405"/>
            <a:ext cx="88996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                 IoT Sensors</a:t>
            </a:r>
          </a:p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Temperature • Vibration • Energy • Weather</a:t>
            </a:r>
            <a:endParaRPr lang="en-IN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CB2DA6-31A7-B6EC-9F12-65E1ACB18F09}"/>
              </a:ext>
            </a:extLst>
          </p:cNvPr>
          <p:cNvSpPr txBox="1"/>
          <p:nvPr/>
        </p:nvSpPr>
        <p:spPr>
          <a:xfrm>
            <a:off x="482173" y="1927499"/>
            <a:ext cx="88996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              </a:t>
            </a:r>
            <a:r>
              <a:rPr lang="en-IN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 Collection &amp; Transmission</a:t>
            </a:r>
          </a:p>
          <a:p>
            <a:r>
              <a:rPr lang="en-IN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Edge Gateway • MQTT • Secure/Satellite Communication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358404-B763-2BB9-2823-AF174D71F4C5}"/>
              </a:ext>
            </a:extLst>
          </p:cNvPr>
          <p:cNvSpPr txBox="1"/>
          <p:nvPr/>
        </p:nvSpPr>
        <p:spPr>
          <a:xfrm>
            <a:off x="1007683" y="2699997"/>
            <a:ext cx="88996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       Data Processing</a:t>
            </a:r>
          </a:p>
          <a:p>
            <a:r>
              <a:rPr lang="en-IN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Cleaning • Storage • Real-time Analytics</a:t>
            </a:r>
            <a:endParaRPr lang="en-IN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9D6606-C155-B7C6-20CC-8F55B34B81DA}"/>
              </a:ext>
            </a:extLst>
          </p:cNvPr>
          <p:cNvSpPr txBox="1"/>
          <p:nvPr/>
        </p:nvSpPr>
        <p:spPr>
          <a:xfrm>
            <a:off x="173755" y="3583314"/>
            <a:ext cx="30210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    AI / ML</a:t>
            </a:r>
          </a:p>
          <a:p>
            <a:r>
              <a:rPr lang="en-IN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Anomaly &amp; Failure Prediction 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B4A1AD-2866-30DD-A255-77269C00B62B}"/>
              </a:ext>
            </a:extLst>
          </p:cNvPr>
          <p:cNvSpPr txBox="1"/>
          <p:nvPr/>
        </p:nvSpPr>
        <p:spPr>
          <a:xfrm>
            <a:off x="3490425" y="3611054"/>
            <a:ext cx="22662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      </a:t>
            </a:r>
            <a:r>
              <a:rPr lang="en-IN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Digital Twin</a:t>
            </a:r>
          </a:p>
          <a:p>
            <a:r>
              <a:rPr lang="en-IN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Live 3D Station Model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EDB5BC-BEBF-9A0D-5617-BEE31A9522CB}"/>
              </a:ext>
            </a:extLst>
          </p:cNvPr>
          <p:cNvSpPr txBox="1"/>
          <p:nvPr/>
        </p:nvSpPr>
        <p:spPr>
          <a:xfrm>
            <a:off x="503850" y="4493842"/>
            <a:ext cx="48676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              Central Dashboard</a:t>
            </a:r>
          </a:p>
          <a:p>
            <a:r>
              <a:rPr lang="en-IN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Live Status • Energy • Environment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3EC5E67-26B5-E658-F70C-49B7D5A2F798}"/>
              </a:ext>
            </a:extLst>
          </p:cNvPr>
          <p:cNvSpPr txBox="1"/>
          <p:nvPr/>
        </p:nvSpPr>
        <p:spPr>
          <a:xfrm>
            <a:off x="173755" y="5493219"/>
            <a:ext cx="88996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                          Alert &amp; Action</a:t>
            </a:r>
          </a:p>
          <a:p>
            <a:r>
              <a:rPr lang="en-IN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Fault Alert → Remote Diagnosis → Maintenance → Verification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603B7BF-693D-2B5D-2295-857529075417}"/>
              </a:ext>
            </a:extLst>
          </p:cNvPr>
          <p:cNvCxnSpPr>
            <a:cxnSpLocks/>
          </p:cNvCxnSpPr>
          <p:nvPr/>
        </p:nvCxnSpPr>
        <p:spPr>
          <a:xfrm>
            <a:off x="2743200" y="1683763"/>
            <a:ext cx="0" cy="2969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6D6328E-69AC-3BBB-6A7E-F4E61DC137AB}"/>
              </a:ext>
            </a:extLst>
          </p:cNvPr>
          <p:cNvCxnSpPr>
            <a:cxnSpLocks/>
          </p:cNvCxnSpPr>
          <p:nvPr/>
        </p:nvCxnSpPr>
        <p:spPr>
          <a:xfrm>
            <a:off x="2743200" y="2532937"/>
            <a:ext cx="0" cy="2613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E4609E2-9421-B7FA-0097-13F6E9EC32EB}"/>
              </a:ext>
            </a:extLst>
          </p:cNvPr>
          <p:cNvCxnSpPr>
            <a:cxnSpLocks/>
          </p:cNvCxnSpPr>
          <p:nvPr/>
        </p:nvCxnSpPr>
        <p:spPr>
          <a:xfrm>
            <a:off x="2745498" y="4177920"/>
            <a:ext cx="0" cy="2969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CFCD6F6-FD97-0217-528B-B0BE72EDBB36}"/>
              </a:ext>
            </a:extLst>
          </p:cNvPr>
          <p:cNvCxnSpPr>
            <a:cxnSpLocks/>
          </p:cNvCxnSpPr>
          <p:nvPr/>
        </p:nvCxnSpPr>
        <p:spPr>
          <a:xfrm>
            <a:off x="2729732" y="5193708"/>
            <a:ext cx="0" cy="2969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5BED6B6-BCD6-EE73-672D-7BAD0D606569}"/>
              </a:ext>
            </a:extLst>
          </p:cNvPr>
          <p:cNvCxnSpPr>
            <a:cxnSpLocks/>
          </p:cNvCxnSpPr>
          <p:nvPr/>
        </p:nvCxnSpPr>
        <p:spPr>
          <a:xfrm>
            <a:off x="2745498" y="3314136"/>
            <a:ext cx="0" cy="2969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D66C3A24-1B83-E0F6-4A43-8CC6BC4C79B1}"/>
              </a:ext>
            </a:extLst>
          </p:cNvPr>
          <p:cNvSpPr txBox="1"/>
          <p:nvPr/>
        </p:nvSpPr>
        <p:spPr>
          <a:xfrm>
            <a:off x="8216453" y="1226442"/>
            <a:ext cx="88996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</a:t>
            </a:r>
            <a:r>
              <a:rPr lang="en-IN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ECHNOLOGY USED:-</a:t>
            </a:r>
          </a:p>
        </p:txBody>
      </p:sp>
      <p:sp>
        <p:nvSpPr>
          <p:cNvPr id="37" name="AutoShape 2">
            <a:extLst>
              <a:ext uri="{FF2B5EF4-FFF2-40B4-BE49-F238E27FC236}">
                <a16:creationId xmlns:a16="http://schemas.microsoft.com/office/drawing/2014/main" id="{6D81BE16-82A9-0D3D-3E90-3C104EC743B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9BA399A-F4F1-8875-998F-BEA66716C9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2603" y="1791046"/>
            <a:ext cx="1052450" cy="804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SS3 Logo PNG Transparent – Brands Logos">
            <a:extLst>
              <a:ext uri="{FF2B5EF4-FFF2-40B4-BE49-F238E27FC236}">
                <a16:creationId xmlns:a16="http://schemas.microsoft.com/office/drawing/2014/main" id="{659549A6-172C-E1F7-F02F-72B1EF3F0D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7256" y="1657552"/>
            <a:ext cx="1619794" cy="1347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tml5 Logo PNG Transparent With Clear Background ID 472767 | TOPpng">
            <a:extLst>
              <a:ext uri="{FF2B5EF4-FFF2-40B4-BE49-F238E27FC236}">
                <a16:creationId xmlns:a16="http://schemas.microsoft.com/office/drawing/2014/main" id="{3D9B62CB-EEBB-FB2F-91A4-9C205113AA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1664" y="1797421"/>
            <a:ext cx="1376855" cy="1079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8D1F010-94E9-81EB-8693-D4FE96C9C9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07744" y="3327444"/>
            <a:ext cx="4755268" cy="265410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435EF76-AFD0-0A52-AE02-682A0EBA461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88020" y="4754928"/>
            <a:ext cx="803158" cy="81949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090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599" y="8110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13335000" y="2346961"/>
            <a:ext cx="182880" cy="503238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120208"/>
            <a:ext cx="139234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BHARTI</a:t>
            </a:r>
          </a:p>
          <a:p>
            <a:pPr algn="ctr"/>
            <a:r>
              <a:rPr lang="en-US" b="1" dirty="0"/>
              <a:t>MAITRI</a:t>
            </a:r>
            <a:endParaRPr lang="en-IN" b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837AB045-F05A-36DC-006E-5A66A53279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9834037"/>
              </p:ext>
            </p:extLst>
          </p:nvPr>
        </p:nvGraphicFramePr>
        <p:xfrm>
          <a:off x="609599" y="1293928"/>
          <a:ext cx="10972800" cy="4980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0456">
                  <a:extLst>
                    <a:ext uri="{9D8B030D-6E8A-4147-A177-3AD203B41FA5}">
                      <a16:colId xmlns:a16="http://schemas.microsoft.com/office/drawing/2014/main" val="3999788632"/>
                    </a:ext>
                  </a:extLst>
                </a:gridCol>
                <a:gridCol w="3654744">
                  <a:extLst>
                    <a:ext uri="{9D8B030D-6E8A-4147-A177-3AD203B41FA5}">
                      <a16:colId xmlns:a16="http://schemas.microsoft.com/office/drawing/2014/main" val="986941373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3869359095"/>
                    </a:ext>
                  </a:extLst>
                </a:gridCol>
              </a:tblGrid>
              <a:tr h="1012746">
                <a:tc>
                  <a:txBody>
                    <a:bodyPr/>
                    <a:lstStyle/>
                    <a:p>
                      <a:r>
                        <a:rPr lang="en-IN" sz="2800" b="1" u="none" dirty="0">
                          <a:ln w="0"/>
                          <a:solidFill>
                            <a:schemeClr val="tx2"/>
                          </a:solidFill>
                        </a:rPr>
                        <a:t>         </a:t>
                      </a:r>
                      <a:r>
                        <a:rPr lang="en-IN" sz="3600" b="1" u="none" dirty="0">
                          <a:ln w="0"/>
                          <a:solidFill>
                            <a:schemeClr val="tx2"/>
                          </a:solidFill>
                        </a:rPr>
                        <a:t>Feasibility</a:t>
                      </a:r>
                    </a:p>
                    <a:p>
                      <a:endParaRPr lang="en-IN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b="1" u="none" dirty="0">
                          <a:ln w="0"/>
                          <a:solidFill>
                            <a:schemeClr val="tx2"/>
                          </a:solidFill>
                        </a:rPr>
                        <a:t>         </a:t>
                      </a:r>
                      <a:r>
                        <a:rPr lang="en-IN" sz="3600" b="1" u="none" dirty="0">
                          <a:ln w="0"/>
                          <a:solidFill>
                            <a:schemeClr val="tx2"/>
                          </a:solidFill>
                        </a:rPr>
                        <a:t>Challenges</a:t>
                      </a:r>
                      <a:endParaRPr lang="en-IN" sz="3600" u="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b="1" u="none" dirty="0">
                          <a:ln w="0"/>
                          <a:solidFill>
                            <a:schemeClr val="tx2"/>
                          </a:solidFill>
                          <a:effectLst/>
                        </a:rPr>
                        <a:t>           </a:t>
                      </a:r>
                      <a:r>
                        <a:rPr lang="en-IN" sz="3600" b="1" u="none" dirty="0">
                          <a:ln w="0"/>
                          <a:solidFill>
                            <a:schemeClr val="tx2"/>
                          </a:solidFill>
                          <a:effectLst/>
                        </a:rPr>
                        <a:t>Solution</a:t>
                      </a:r>
                      <a:endParaRPr lang="en-IN" sz="3600" u="none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0974027"/>
                  </a:ext>
                </a:extLst>
              </a:tr>
              <a:tr h="1150996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Uses existing </a:t>
                      </a:r>
                      <a:r>
                        <a:rPr lang="en-IN" sz="1800" b="1" dirty="0">
                          <a:solidFill>
                            <a:schemeClr val="tx1"/>
                          </a:solidFill>
                        </a:rPr>
                        <a:t>IoT, satellite, GPS and AI technologies</a:t>
                      </a:r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. 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Extreme weather &amp; sensor failure .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Centralized monitoring and control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5880463"/>
                  </a:ext>
                </a:extLst>
              </a:tr>
              <a:tr h="1150996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Cloud-based architecture enables remote monitoring. 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Limited connectivity 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Edge computing for critical alerts 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9764364"/>
                  </a:ext>
                </a:extLst>
              </a:tr>
              <a:tr h="805696"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Can start with </a:t>
                      </a:r>
                      <a:r>
                        <a:rPr lang="en-IN" sz="1800" b="1" dirty="0">
                          <a:solidFill>
                            <a:schemeClr val="tx1"/>
                          </a:solidFill>
                        </a:rPr>
                        <a:t>one research station → scale to multiple stations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Harsh operating environment 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Predictive maintenance 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848788"/>
                  </a:ext>
                </a:extLst>
              </a:tr>
              <a:tr h="805696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High maintenance difficulty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Solar/wind + battery backup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83506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12420600" y="204343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90589" y="144883"/>
            <a:ext cx="1392491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MAITRI BHARTI</a:t>
            </a:r>
            <a:endParaRPr lang="en-IN" b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3F80F72-D71A-0531-26D0-D7481B36B5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90" y="1155514"/>
            <a:ext cx="10587310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Safety:-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unnecessary human exposure.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Energy:-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Optimizes renewable energy consumption.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Infrastructure:-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Detects faults before breakdown.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Logistics:-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Tracks vehicles and supplies efficiently.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Environment:-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Continuous monitoring with minimal disturbance.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Cost:-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emergency repairs and operational losses.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Prediction:-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Enables early detection of equipment/environmental risks.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13361670" y="1870710"/>
            <a:ext cx="1112520" cy="149216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56901" y="412103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AND REFERENCES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-3973567" y="3850174"/>
            <a:ext cx="9511145" cy="2267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Wikipedia.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Research and References.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Git Hub:-</a:t>
            </a:r>
          </a:p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endParaRPr lang="en-IN" sz="2400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endParaRPr lang="en-IN" sz="2400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8559" y="65681"/>
            <a:ext cx="2249850" cy="106233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8606E33-6F1F-EE75-E67F-EE71B7014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53916"/>
            <a:ext cx="12192000" cy="50783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segoe sans variable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AutoShape 2" descr="AI Overview">
            <a:hlinkClick r:id="rId4"/>
            <a:extLst>
              <a:ext uri="{FF2B5EF4-FFF2-40B4-BE49-F238E27FC236}">
                <a16:creationId xmlns:a16="http://schemas.microsoft.com/office/drawing/2014/main" id="{8B9B8ABF-0EA0-0DBF-4EE9-9B145D92F79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150" y="-250825"/>
            <a:ext cx="942975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E9B3E3E-1280-941D-C21E-9AB07096FC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591" y="110656"/>
            <a:ext cx="1420491" cy="82912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1DBED70-F684-168E-9194-04AE427ACD14}"/>
              </a:ext>
            </a:extLst>
          </p:cNvPr>
          <p:cNvSpPr txBox="1"/>
          <p:nvPr/>
        </p:nvSpPr>
        <p:spPr>
          <a:xfrm>
            <a:off x="631371" y="1128018"/>
            <a:ext cx="106172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Research Areas</a:t>
            </a:r>
            <a:endParaRPr lang="en-IN" dirty="0"/>
          </a:p>
          <a:p>
            <a:pPr lvl="0"/>
            <a:r>
              <a:rPr lang="en-IN" dirty="0"/>
              <a:t>Antarctic station infrastructure &amp; daily operations </a:t>
            </a:r>
          </a:p>
          <a:p>
            <a:pPr lvl="0"/>
            <a:r>
              <a:rPr lang="en-IN" dirty="0"/>
              <a:t>Energy, generators &amp; heating systems </a:t>
            </a:r>
          </a:p>
          <a:p>
            <a:pPr lvl="0"/>
            <a:r>
              <a:rPr lang="en-IN" dirty="0"/>
              <a:t>Logistics and supply management </a:t>
            </a:r>
          </a:p>
          <a:p>
            <a:pPr lvl="0"/>
            <a:r>
              <a:rPr lang="en-IN" dirty="0"/>
              <a:t>Weather &amp; environmental monitoring </a:t>
            </a:r>
          </a:p>
          <a:p>
            <a:pPr lvl="0"/>
            <a:r>
              <a:rPr lang="en-IN" dirty="0"/>
              <a:t>Convoy, sea-ice and expedition routes </a:t>
            </a:r>
          </a:p>
          <a:p>
            <a:pPr lvl="0"/>
            <a:r>
              <a:rPr lang="en-IN" dirty="0"/>
              <a:t>Digital Twin &amp; remote monitoring technologies </a:t>
            </a:r>
          </a:p>
          <a:p>
            <a:r>
              <a:rPr lang="en-IN" b="1" dirty="0"/>
              <a:t>References</a:t>
            </a:r>
            <a:endParaRPr lang="en-IN" dirty="0"/>
          </a:p>
          <a:p>
            <a:pPr lvl="0"/>
            <a:r>
              <a:rPr lang="en-IN" b="1" dirty="0"/>
              <a:t>NCPOR</a:t>
            </a:r>
            <a:r>
              <a:rPr lang="en-IN" dirty="0"/>
              <a:t> — National Centre for Polar and Ocean Research </a:t>
            </a:r>
          </a:p>
          <a:p>
            <a:pPr lvl="0"/>
            <a:r>
              <a:rPr lang="en-IN" b="1" dirty="0"/>
              <a:t>Wikipedia</a:t>
            </a:r>
            <a:r>
              <a:rPr lang="en-IN" dirty="0"/>
              <a:t> — Antarctic &amp; Indian Antarctic research background </a:t>
            </a:r>
          </a:p>
          <a:p>
            <a:pPr lvl="0"/>
            <a:r>
              <a:rPr lang="en-IN" b="1" dirty="0"/>
              <a:t>GitHub</a:t>
            </a:r>
            <a:r>
              <a:rPr lang="en-IN" dirty="0"/>
              <a:t> — Open-source mapping, tracking &amp; Digital Twin technologies </a:t>
            </a:r>
          </a:p>
          <a:p>
            <a:pPr lvl="0"/>
            <a:r>
              <a:rPr lang="en-IN" b="1" dirty="0"/>
              <a:t>Scientific/technical publications</a:t>
            </a:r>
            <a:r>
              <a:rPr lang="en-IN" dirty="0"/>
              <a:t> — Antarctic environment and remote sensing </a:t>
            </a:r>
          </a:p>
          <a:p>
            <a:pPr lvl="0"/>
            <a:r>
              <a:rPr lang="en-IN" b="1" dirty="0"/>
              <a:t>Expert Consultation</a:t>
            </a:r>
            <a:r>
              <a:rPr lang="en-IN" dirty="0"/>
              <a:t> — Project Scientist, Antarctic Cryosphere Division, NCPOR </a:t>
            </a:r>
          </a:p>
          <a:p>
            <a:pPr lvl="0"/>
            <a:r>
              <a:rPr lang="en-IN" dirty="0"/>
              <a:t>Anirudha </a:t>
            </a:r>
            <a:r>
              <a:rPr lang="en-IN" dirty="0" err="1"/>
              <a:t>Mahagaonkar</a:t>
            </a:r>
            <a:r>
              <a:rPr lang="en-IN" dirty="0"/>
              <a:t> Project Scientist | Antarctic Cryosphere Division</a:t>
            </a:r>
          </a:p>
          <a:p>
            <a:r>
              <a:rPr lang="en-IN" b="1" dirty="0"/>
              <a:t>Research Approach:</a:t>
            </a:r>
            <a:br>
              <a:rPr lang="en-IN" dirty="0"/>
            </a:br>
            <a:r>
              <a:rPr lang="en-IN" dirty="0"/>
              <a:t>Public Sources → Technical Research → Expert Consultation → System Requirements → Digital Twin</a:t>
            </a:r>
          </a:p>
          <a:p>
            <a:r>
              <a:rPr lang="en-IN" dirty="0"/>
              <a:t>https://drive.google.com/drive/folders/1KBNKIIyHeVeIr--3dNFTLbXYH3wAGE45</a:t>
            </a:r>
          </a:p>
        </p:txBody>
      </p:sp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8146</TotalTime>
  <Words>644</Words>
  <Application>Microsoft Office PowerPoint</Application>
  <PresentationFormat>Widescreen</PresentationFormat>
  <Paragraphs>136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segoe sans variable</vt:lpstr>
      <vt:lpstr>Times New Roman</vt:lpstr>
      <vt:lpstr>TradeGothic</vt:lpstr>
      <vt:lpstr>Office Theme</vt:lpstr>
      <vt:lpstr>SMART INDIA HACKATHON 2026</vt:lpstr>
      <vt:lpstr>IDEA TITLE </vt:lpstr>
      <vt:lpstr>TECHNICAL APPROACH</vt:lpstr>
      <vt:lpstr>FEASIBILITY AND VIABILITY</vt:lpstr>
      <vt:lpstr>IMPACT AND BENEFITS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rahul negi</cp:lastModifiedBy>
  <cp:revision>157</cp:revision>
  <dcterms:created xsi:type="dcterms:W3CDTF">2013-12-12T18:46:50Z</dcterms:created>
  <dcterms:modified xsi:type="dcterms:W3CDTF">2026-09-19T06:08:50Z</dcterms:modified>
  <cp:category/>
</cp:coreProperties>
</file>